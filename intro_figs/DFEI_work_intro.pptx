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1F4E79"/>
                </a:solidFill>
              </a:rPr>
              <a:t>基于异构图神经网络的 LHCb 全事件重建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333333"/>
                </a:solidFill>
              </a:rPr>
              <a:t>DFEI/HGNN：原版方法介绍与我的优化工作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666666"/>
                </a:solidFill>
              </a:rPr>
              <a:t>Qingxiang Guo · University of Chinese Academy of 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</a:rPr>
              <a:t>数据: CERN 官方 MC · GPU: RTX 2080 Ti (10 GB)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背景：高亮度下的 LHCb 重建挑战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LHCb 实验</a:t>
            </a:r>
            <a:r>
              <a:rPr sz="1800">
                <a:solidFill>
                  <a:srgbClr val="333333"/>
                </a:solidFill>
              </a:rPr>
              <a:t> — 专攻 b/c 强子衰变的精密测量（CP 破坏、稀有衰变、味物理）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Upgrade I (Run 3/4)</a:t>
            </a:r>
            <a:r>
              <a:rPr sz="1800">
                <a:solidFill>
                  <a:srgbClr val="333333"/>
                </a:solidFill>
              </a:rPr>
              <a:t> — 平均 ~5 次 pp 碰撞/事件、~150 条径迹；Upgrade II 将到 ~50 碰撞、~1000 径迹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三重挑战</a:t>
            </a:r>
            <a:r>
              <a:rPr sz="1800">
                <a:solidFill>
                  <a:srgbClr val="333333"/>
                </a:solidFill>
              </a:rPr>
              <a:t> — 触发低延迟（O(100 ms)/事件）、存储受限（O(10 PB)/年）、背景组合爆炸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传统 exclusive 选择</a:t>
            </a:r>
            <a:r>
              <a:rPr sz="1800">
                <a:solidFill>
                  <a:srgbClr val="333333"/>
                </a:solidFill>
              </a:rPr>
              <a:t> — 逐衰变道找候选，忽略事件上下文信息，难以应对高复杂度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PV 误关联</a:t>
            </a:r>
            <a:r>
              <a:rPr sz="1800">
                <a:solidFill>
                  <a:srgbClr val="333333"/>
                </a:solidFill>
              </a:rPr>
              <a:t> — 高亮度下径迹归属错误 → 影响飞行距离与 CP 测量精度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DFEI：全事件解释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核心思想</a:t>
            </a:r>
            <a:r>
              <a:rPr sz="1800">
                <a:solidFill>
                  <a:srgbClr val="333333"/>
                </a:solidFill>
              </a:rPr>
              <a:t> — 用一个模型同时识别、隔离、层级重建每事件中的所有重味强子衰变链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GNN 适配性</a:t>
            </a:r>
            <a:r>
              <a:rPr sz="1800">
                <a:solidFill>
                  <a:srgbClr val="333333"/>
                </a:solidFill>
              </a:rPr>
              <a:t> — 图结构天然表示事件：变长、稀疏、异构，无需人工排序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与 FEI 对比</a:t>
            </a:r>
            <a:r>
              <a:rPr sz="1800">
                <a:solidFill>
                  <a:srgbClr val="333333"/>
                </a:solidFill>
              </a:rPr>
              <a:t> — Belle II 的 FEI 为每个衰变道训练分类器；DFEI 单模型统括，并引入上下文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LCAG 层级目标</a:t>
            </a:r>
            <a:r>
              <a:rPr sz="1800">
                <a:solidFill>
                  <a:srgbClr val="333333"/>
                </a:solidFill>
              </a:rPr>
              <a:t> — Kahn 等提出：用"最低共同祖先代数"标签学习衰变层级结构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原版 DFEI (多阶段)</a:t>
            </a:r>
            <a:r>
              <a:rPr sz="1800">
                <a:solidFill>
                  <a:srgbClr val="333333"/>
                </a:solidFill>
              </a:rPr>
              <a:t> — 节点剪枝 GNN → 边剪枝 GNN → LCAG 分类 GNN，逐级过滤背景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事件 → 异构图表示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节点</a:t>
            </a:r>
            <a:r>
              <a:rPr sz="1800">
                <a:solidFill>
                  <a:srgbClr val="333333"/>
                </a:solidFill>
              </a:rPr>
              <a:t> — tracks（径迹）与 pvs（主顶点）两类节点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边</a:t>
            </a:r>
            <a:r>
              <a:rPr sz="1800">
                <a:solidFill>
                  <a:srgbClr val="333333"/>
                </a:solidFill>
              </a:rPr>
              <a:t> — tracks-tracks（径迹关联）、tracks-pvs（顶点关联）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特征</a:t>
            </a:r>
            <a:r>
              <a:rPr sz="1800">
                <a:solidFill>
                  <a:srgbClr val="333333"/>
                </a:solidFill>
              </a:rPr>
              <a:t> — 动量 (px,py,pz)、产生点 (xProd,yProd,zProd)、电荷、PID 概率、ghost 概率等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规模</a:t>
            </a:r>
            <a:r>
              <a:rPr sz="1800">
                <a:solidFill>
                  <a:srgbClr val="333333"/>
                </a:solidFill>
              </a:rPr>
              <a:t> — ~150 径迹的事件 → 上万条候选边</a:t>
            </a:r>
          </a:p>
        </p:txBody>
      </p:sp>
      <p:pic>
        <p:nvPicPr>
          <p:cNvPr id="5" name="Picture 4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40480"/>
            <a:ext cx="10058400" cy="26239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HGNN 多任务架构（原版 scalable_mtl_hgnn）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编码器</a:t>
            </a:r>
            <a:r>
              <a:rPr sz="1800">
                <a:solidFill>
                  <a:srgbClr val="333333"/>
                </a:solidFill>
              </a:rPr>
              <a:t> — 各节点/边类型独立 MLP 编码（保留异构信息）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GN 块</a:t>
            </a:r>
            <a:r>
              <a:rPr sz="1800">
                <a:solidFill>
                  <a:srgbClr val="333333"/>
                </a:solidFill>
              </a:rPr>
              <a:t> — 多轮图消息传递，集成可微图剪枝 + 加权消息传递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解码器/多任务头</a:t>
            </a:r>
            <a:r>
              <a:rPr sz="1800">
                <a:solidFill>
                  <a:srgbClr val="333333"/>
                </a:solidFill>
              </a:rPr>
              <a:t> — LCA 分类（4 类）、节点剪枝、边剪枝、PV 关联 —— 联合训练共享表征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训练</a:t>
            </a:r>
            <a:r>
              <a:rPr sz="1800">
                <a:solidFill>
                  <a:srgbClr val="333333"/>
                </a:solidFill>
              </a:rPr>
              <a:t> — CERN 模拟环境（DFEI_IFT 数据），多任务损失加权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对应论文</a:t>
            </a:r>
            <a:r>
              <a:rPr sz="1800">
                <a:solidFill>
                  <a:srgbClr val="333333"/>
                </a:solidFill>
              </a:rPr>
              <a:t> — Sutcliffe et al., arXiv:2504.21844；DFEI 原型 García Pardiñas et al., arXiv:2304.08610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推理流程与评估指标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阈值剪枝</a:t>
            </a:r>
            <a:r>
              <a:rPr sz="1800">
                <a:solidFill>
                  <a:srgbClr val="333333"/>
                </a:solidFill>
              </a:rPr>
              <a:t> — 按 node/edge 置信度阈值过滤背景节点与边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LCAG 树聚类</a:t>
            </a:r>
            <a:r>
              <a:rPr sz="1800">
                <a:solidFill>
                  <a:srgbClr val="333333"/>
                </a:solidFill>
              </a:rPr>
              <a:t> — 由 LCA 层级标签聚类出衰变链（reconstruct_decay）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PerfectReco</a:t>
            </a:r>
            <a:r>
              <a:rPr sz="1800">
                <a:solidFill>
                  <a:srgbClr val="333333"/>
                </a:solidFill>
              </a:rPr>
              <a:t> — 链完整且无背景混入（最高要求）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AllParticles</a:t>
            </a:r>
            <a:r>
              <a:rPr sz="1800">
                <a:solidFill>
                  <a:srgbClr val="333333"/>
                </a:solidFill>
              </a:rPr>
              <a:t> — 所有信号粒子都在（可有污染）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NoneIso</a:t>
            </a:r>
            <a:r>
              <a:rPr sz="1800">
                <a:solidFill>
                  <a:srgbClr val="333333"/>
                </a:solidFill>
              </a:rPr>
              <a:t> — 无污染（可有缺失）</a:t>
            </a:r>
          </a:p>
        </p:txBody>
      </p:sp>
      <p:pic>
        <p:nvPicPr>
          <p:cNvPr id="5" name="Picture 4" descr="fig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291840"/>
            <a:ext cx="9144000" cy="46201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我的工作概览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① 基线建立</a:t>
            </a:r>
            <a:r>
              <a:rPr sz="1800">
                <a:solidFill>
                  <a:srgbClr val="333333"/>
                </a:solidFill>
              </a:rPr>
              <a:t> — 复现原版 → 定位并修复 class-weight bug → CERN 基线 v31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② 优化 A</a:t>
            </a:r>
            <a:r>
              <a:rPr sz="1800">
                <a:solidFill>
                  <a:srgbClr val="333333"/>
                </a:solidFill>
              </a:rPr>
              <a:t> — B2 可微剪枝：消除训练-推理剪枝鸿沟（v36）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③ 优化 B</a:t>
            </a:r>
            <a:r>
              <a:rPr sz="1800">
                <a:solidFill>
                  <a:srgbClr val="333333"/>
                </a:solidFill>
              </a:rPr>
              <a:t> — 源检测头：Rumor Centrality 训练化，学"根-叶"结构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④ 优化 C</a:t>
            </a:r>
            <a:r>
              <a:rPr sz="1800">
                <a:solidFill>
                  <a:srgbClr val="333333"/>
                </a:solidFill>
              </a:rPr>
              <a:t> — loss 再平衡：class2 加权 + 链级 LCA 一致性 + 链内类别 CE（v37/v38）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⑤ 优化 D</a:t>
            </a:r>
            <a:r>
              <a:rPr sz="1800">
                <a:solidFill>
                  <a:srgbClr val="333333"/>
                </a:solidFill>
              </a:rPr>
              <a:t> — PV 分簇分层重建（v39，训练中）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⑥ 推理侧探索</a:t>
            </a:r>
            <a:r>
              <a:rPr sz="1800">
                <a:solidFill>
                  <a:srgbClr val="333333"/>
                </a:solidFill>
              </a:rPr>
              <a:t> — chain_lca_filter 后处理判据验证（结论：区分度不足，已放弃）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① 基线建立：class-weight bug 修复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问题</a:t>
            </a:r>
            <a:r>
              <a:rPr sz="1800">
                <a:solidFill>
                  <a:srgbClr val="333333"/>
                </a:solidFill>
              </a:rPr>
              <a:t> — 配置键拼写错误（LCA__weights → LCA_weights），类别权重未生效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后果</a:t>
            </a:r>
            <a:r>
              <a:rPr sz="1800">
                <a:solidFill>
                  <a:srgbClr val="333333"/>
                </a:solidFill>
              </a:rPr>
              <a:t> — LCAG class1 准确率跌至 ~0%，PerfectReco 严重受限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修复后</a:t>
            </a:r>
            <a:r>
              <a:rPr sz="1800">
                <a:solidFill>
                  <a:srgbClr val="333333"/>
                </a:solidFill>
              </a:rPr>
              <a:t> — CERN 官方 MC 上建立基线 v31：Perfect 23.9%、NoneIso 56.6%</a:t>
            </a:r>
          </a:p>
        </p:txBody>
      </p:sp>
      <p:pic>
        <p:nvPicPr>
          <p:cNvPr id="5" name="Picture 4" descr="fig_l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383280"/>
            <a:ext cx="9144000" cy="48409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② 优化 A：B2 可微剪枝（消除 train-inference gap）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痛点</a:t>
            </a:r>
            <a:r>
              <a:rPr sz="1800">
                <a:solidFill>
                  <a:srgbClr val="333333"/>
                </a:solidFill>
              </a:rPr>
              <a:t> — 训练用全图监督，推理时硬阈值剪枝 → 分布割裂（gap）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方案</a:t>
            </a:r>
            <a:r>
              <a:rPr sz="1800">
                <a:solidFill>
                  <a:srgbClr val="333333"/>
                </a:solidFill>
              </a:rPr>
              <a:t> — 训练时对 node/edge 权重施加软掩码 σ((w−cut)/τ)，温度退火 1.0→0.1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效果</a:t>
            </a:r>
            <a:r>
              <a:rPr sz="1800">
                <a:solidFill>
                  <a:srgbClr val="333333"/>
                </a:solidFill>
              </a:rPr>
              <a:t> — 训练即模拟剪枝，收敛到与推理一致的稀疏结构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结果 (v36)</a:t>
            </a:r>
            <a:r>
              <a:rPr sz="1800">
                <a:solidFill>
                  <a:srgbClr val="333333"/>
                </a:solidFill>
              </a:rPr>
              <a:t> — Perfect 26.28%（+2.35pp vs v31）、NoneIso 50.8%（−5.8pp）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③ 优化 B：源检测头（Rumor Centrality 训练化）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物理直觉</a:t>
            </a:r>
            <a:r>
              <a:rPr sz="1800">
                <a:solidFill>
                  <a:srgbClr val="333333"/>
                </a:solidFill>
              </a:rPr>
              <a:t> — 真实衰变链是"有根树"（B 介子为根），噪声团块无根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推理侧</a:t>
            </a:r>
            <a:r>
              <a:rPr sz="1800">
                <a:solidFill>
                  <a:srgbClr val="333333"/>
                </a:solidFill>
              </a:rPr>
              <a:t> — 用 rumor centrality 找链根（B 介子候选）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训练侧</a:t>
            </a:r>
            <a:r>
              <a:rPr sz="1800">
                <a:solidFill>
                  <a:srgbClr val="333333"/>
                </a:solidFill>
              </a:rPr>
              <a:t> — 新增第 6 个监督头：预测每条 truth 链的根节点（BCE）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作用</a:t>
            </a:r>
            <a:r>
              <a:rPr sz="1800">
                <a:solidFill>
                  <a:srgbClr val="333333"/>
                </a:solidFill>
              </a:rPr>
              <a:t> — 让主干显式学习"根-叶"层级结构，与推理侧 RC 对齐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④ 优化 C：Loss 再平衡（结构瓶颈专项）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方案4 class2 加权</a:t>
            </a:r>
            <a:r>
              <a:rPr sz="1800">
                <a:solidFill>
                  <a:srgbClr val="333333"/>
                </a:solidFill>
              </a:rPr>
              <a:t> — 同B边（class2）是链内结构瓶颈（~41%），专项放大其 CE 权重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方案5 链级 LCA 一致性</a:t>
            </a:r>
            <a:r>
              <a:rPr sz="1800">
                <a:solidFill>
                  <a:srgbClr val="333333"/>
                </a:solidFill>
              </a:rPr>
              <a:t> — 鼓励真链内边"高置信"（chain_lca_filter 训练化）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方案6 b2_cut 对齐 + 链内类别 CE</a:t>
            </a:r>
            <a:r>
              <a:rPr sz="1800">
                <a:solidFill>
                  <a:srgbClr val="333333"/>
                </a:solidFill>
              </a:rPr>
              <a:t> — 剪枝阈值 0.5→0.85 对齐推理；链内边额外 CE 监督类别正确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结果 (v38)</a:t>
            </a:r>
            <a:r>
              <a:rPr sz="1800">
                <a:solidFill>
                  <a:srgbClr val="333333"/>
                </a:solidFill>
              </a:rPr>
              <a:t> — Perfect 29.26%（vs v37 +2.0pp）；class1 76.8%、class2 47.9%</a:t>
            </a:r>
          </a:p>
        </p:txBody>
      </p:sp>
      <p:pic>
        <p:nvPicPr>
          <p:cNvPr id="5" name="Picture 4" descr="fig_l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40480"/>
            <a:ext cx="9144000" cy="48409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⑤ 优化 D：PV 分簇分层重建（v39，训练中）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问题</a:t>
            </a:r>
            <a:r>
              <a:rPr sz="1800">
                <a:solidFill>
                  <a:srgbClr val="333333"/>
                </a:solidFill>
              </a:rPr>
              <a:t> — CERN 事件 91–139 tracks，高连通图 → 跨链干扰（2B/&gt;2B 事件是重灾区）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方案</a:t>
            </a:r>
            <a:r>
              <a:rPr sz="1800">
                <a:solidFill>
                  <a:srgbClr val="333333"/>
                </a:solidFill>
              </a:rPr>
              <a:t> — 按 PV 把事件分成簇（每簇 20–30 节点），簇内独立重建衰变链再合并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实现</a:t>
            </a:r>
            <a:r>
              <a:rPr sz="1800">
                <a:solidFill>
                  <a:srgbClr val="333333"/>
                </a:solidFill>
              </a:rPr>
              <a:t> — reconstruction.py 新增 pv_cluster 逻辑；真/预测 PV 分配可选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现状</a:t>
            </a:r>
            <a:r>
              <a:rPr sz="1800">
                <a:solidFill>
                  <a:srgbClr val="333333"/>
                </a:solidFill>
              </a:rPr>
              <a:t> — v39 训练已启动（resume v38 best），预计 14h 完成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⑥ 推理侧探索：chain_lca_filter 后处理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想法</a:t>
            </a:r>
            <a:r>
              <a:rPr sz="1800">
                <a:solidFill>
                  <a:srgbClr val="333333"/>
                </a:solidFill>
              </a:rPr>
              <a:t> — 用链级 LCA 置信度阈值过滤"物理不自洽"的链，压低 NoneIso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验证</a:t>
            </a:r>
            <a:r>
              <a:rPr sz="1800">
                <a:solidFill>
                  <a:srgbClr val="333333"/>
                </a:solidFill>
              </a:rPr>
              <a:t> — v36/v37 record 数据上扫阈值（conf / class2_frac / 联合）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结论</a:t>
            </a:r>
            <a:r>
              <a:rPr sz="1800">
                <a:solidFill>
                  <a:srgbClr val="333333"/>
                </a:solidFill>
              </a:rPr>
              <a:t> — Perfect 链 conf 中位 0.65 vs 失败链 0.55，重叠过大——过滤误杀真链，任何阈值都掉点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教训</a:t>
            </a:r>
            <a:r>
              <a:rPr sz="1800">
                <a:solidFill>
                  <a:srgbClr val="333333"/>
                </a:solidFill>
              </a:rPr>
              <a:t> — 链级平均置信度判据无区分度；需更细粒度判据或 selection MLP 链打分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结果总览：v31 → v38（thr 0.9 同口径）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47548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版本</a:t>
                      </a:r>
                    </a:p>
                  </a:txBody>
                  <a:tcPr marT="38100" marB="381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PerfectReco</a:t>
                      </a:r>
                    </a:p>
                  </a:txBody>
                  <a:tcPr marT="38100" marB="381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AllParticles</a:t>
                      </a:r>
                    </a:p>
                  </a:txBody>
                  <a:tcPr marT="38100" marB="381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NoneIso</a:t>
                      </a:r>
                    </a:p>
                  </a:txBody>
                  <a:tcPr marT="38100" marB="381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LCAG class1</a:t>
                      </a:r>
                    </a:p>
                  </a:txBody>
                  <a:tcPr marT="38100" marB="381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LCAG class2</a:t>
                      </a:r>
                    </a:p>
                  </a:txBody>
                  <a:tcPr marT="38100" marB="38100"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v31 基线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23.93%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43.42%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56.58%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67.78%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41.26%</a:t>
                      </a:r>
                    </a:p>
                  </a:txBody>
                  <a:tcPr marT="38100" marB="38100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v36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26.28%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49.24%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50.76%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64.51%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47.66%</a:t>
                      </a:r>
                    </a:p>
                  </a:txBody>
                  <a:tcPr marT="38100" marB="38100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v37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27.25%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50.60%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49.40%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69.14%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44.22%</a:t>
                      </a:r>
                    </a:p>
                  </a:txBody>
                  <a:tcPr marT="38100" marB="38100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v38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29.26%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52.13%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47.87%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76.81%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47.92%</a:t>
                      </a:r>
                    </a:p>
                  </a:txBody>
                  <a:tcPr marT="38100" marB="38100"/>
                </a:tc>
              </a:tr>
            </a:tbl>
          </a:graphicData>
        </a:graphic>
      </p:graphicFrame>
      <p:pic>
        <p:nvPicPr>
          <p:cNvPr id="5" name="Picture 4" descr="fig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931920"/>
            <a:ext cx="9144000" cy="46201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3D 可视化：衰变级联视图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event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229600" cy="60027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666"/>
                </a:solidFill>
              </a:rPr>
              <a:t>事件 92441664（双B、7 粒子长链）：v31 重建失败 → v37 重建成功；含 PV、衰变级联边、粒子类型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成果</a:t>
            </a:r>
            <a:r>
              <a:rPr sz="1800">
                <a:solidFill>
                  <a:srgbClr val="333333"/>
                </a:solidFill>
              </a:rPr>
              <a:t> — v31→v38：PerfectReco +5.3pp（23.9%→29.3%），NoneIso 首次跌破 48%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方法沉淀</a:t>
            </a:r>
            <a:r>
              <a:rPr sz="1800">
                <a:solidFill>
                  <a:srgbClr val="333333"/>
                </a:solidFill>
              </a:rPr>
              <a:t> — B2 可微剪枝 + 源检测头 + 链级结构 loss 的组合被验证有效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进行中</a:t>
            </a:r>
            <a:r>
              <a:rPr sz="1800">
                <a:solidFill>
                  <a:srgbClr val="333333"/>
                </a:solidFill>
              </a:rPr>
              <a:t> — v39 PV 分簇分层重建（降单图复杂度，目标 2B/&gt;2B 事件）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展望</a:t>
            </a:r>
            <a:r>
              <a:rPr sz="1800">
                <a:solidFill>
                  <a:srgbClr val="333333"/>
                </a:solidFill>
              </a:rPr>
              <a:t> — selection MLP 候选链打分（需训练 scorer）、更细粒度链级判据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</a:rPr>
              <a:t>•  其他产出</a:t>
            </a:r>
            <a:r>
              <a:rPr sz="1800">
                <a:solidFill>
                  <a:srgbClr val="333333"/>
                </a:solidFill>
              </a:rPr>
              <a:t> — GPU 调度/效率分析笔记、版本演进记录、3D 可视化工具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