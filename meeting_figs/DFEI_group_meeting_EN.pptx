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6473952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66666"/>
                </a:solidFill>
                <a:latin typeface="Calibri"/>
              </a:rPr>
              <a:t>Qingxiang Guo · UCAS · DFEI group meeting     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98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F4E79"/>
                </a:solidFill>
                <a:latin typeface="Calibri"/>
              </a:rPr>
              <a:t>Optimizing DFEI: Bug Fixes, Physics-Supervised Learning, and Open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333333"/>
                </a:solidFill>
                <a:latin typeface="Calibri"/>
              </a:rPr>
              <a:t>A work-in-progress report built on the DFEI prototype (García Pardiñas et al., arXiv:2304.08610)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846320"/>
            <a:ext cx="106984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666666"/>
                </a:solidFill>
                <a:latin typeface="Calibri"/>
              </a:rPr>
              <a:t>Qingxiang Guo · University of Chinese Academy of Sciences · 2026-08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6473952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66666"/>
                </a:solidFill>
                <a:latin typeface="Calibri"/>
              </a:rPr>
              <a:t>Qingxiang Guo · UCAS · DFEI group meeting     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F4E79"/>
                </a:solidFill>
                <a:latin typeface="Calibri"/>
              </a:rPr>
              <a:t>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60120"/>
            <a:ext cx="11064240" cy="381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>
                <a:solidFill>
                  <a:srgbClr val="333333"/>
                </a:solidFill>
                <a:latin typeface="Calibri"/>
              </a:rPr>
              <a:t>•  Part 1 — Starting point: state of the DFEI code when I took it over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333333"/>
                </a:solidFill>
                <a:latin typeface="Calibri"/>
              </a:rPr>
              <a:t>•  Part 2 — Bug fix and the optimization line (v31 → v38)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333333"/>
                </a:solidFill>
                <a:latin typeface="Calibri"/>
              </a:rPr>
              <a:t>•  Part 3 — New direction: output-side physics supervision (mass / structure / momentum heads)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    –  with PhyIP-style linear-probe evidence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333333"/>
                </a:solidFill>
                <a:latin typeface="Calibri"/>
              </a:rPr>
              <a:t>•  Part 4 — Results so far (some still training)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333333"/>
                </a:solidFill>
                <a:latin typeface="Calibri"/>
              </a:rPr>
              <a:t>•  Part 5 — Open questions for the group: what is the right application form?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    –  trigger-line assistance · flavor tagging · lightweight deployment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6473952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66666"/>
                </a:solidFill>
                <a:latin typeface="Calibri"/>
              </a:rPr>
              <a:t>Qingxiang Guo · UCAS · DFEI group meeting     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F4E79"/>
                </a:solidFill>
                <a:latin typeface="Calibri"/>
              </a:rPr>
              <a:t>Starting Point: What I Found in the Repo</a:t>
            </a:r>
          </a:p>
          <a:p>
            <a:r>
              <a:rPr sz="1300">
                <a:solidFill>
                  <a:srgbClr val="666666"/>
                </a:solidFill>
                <a:latin typeface="Calibri"/>
              </a:rPr>
              <a:t>Baseline = the public prototype trained on MC, v31-era code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60120"/>
            <a:ext cx="11064240" cy="381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•  DFEI = full-event GNN: simultaneously classify, isolate and hierarchically reconstruct all heavy-hadron decay chains per event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•  Four supervised tasks: LCAG edge classification (4 classes), node pruning, edge pruning, PV association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•  Problems I found in the inherited code: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    –  Class-weight bug: config key LCA__weights (double underscore) silently disabled the weights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    –  → class1 (parent–child) accuracy stuck at ~0%: the model only learned the dominant class0 background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    –  Hard-threshold pruning at inference vs full-graph training → train-inference gap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•  Baseline numbers (20 test files, thr 0.9): Perfect ≈ 23.9%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6473952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66666"/>
                </a:solidFill>
                <a:latin typeface="Calibri"/>
              </a:rPr>
              <a:t>Qingxiang Guo · UCAS · DFEI group meeting     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F4E79"/>
                </a:solidFill>
                <a:latin typeface="Calibri"/>
              </a:rPr>
              <a:t>Bug Fix + First Win: Inverse-Frequency Class Weighting</a:t>
            </a:r>
          </a:p>
          <a:p>
            <a:r>
              <a:rPr sz="1300">
                <a:solidFill>
                  <a:srgbClr val="666666"/>
                </a:solidFill>
                <a:latin typeface="Calibri"/>
              </a:rPr>
              <a:t>Lesson: make sure the supervision signal actually reaches the loss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60120"/>
            <a:ext cx="11064240" cy="381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7899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  <a:latin typeface="Calibri"/>
              </a:rPr>
              <a:t>•  Fix: LCA__weights → LCA_weights, weights = N / (4·n_c) per class (clamped)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  <a:latin typeface="Calibri"/>
              </a:rPr>
              <a:t>•  Result: class1 accuracy recovered from ~0% to &gt;70%; Perfect 23.9% → 26.3% (v31 → v36)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  <a:latin typeface="Calibri"/>
              </a:rPr>
              <a:t>•  Takeaway: verify the signal enters the loss before tuning the model — this unlocked the whole line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6473952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66666"/>
                </a:solidFill>
                <a:latin typeface="Calibri"/>
              </a:rPr>
              <a:t>Qingxiang Guo · UCAS · DFEI group meeting     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F4E79"/>
                </a:solidFill>
                <a:latin typeface="Calibri"/>
              </a:rPr>
              <a:t>B2: Differentiable Pruning + Temperature Annealing</a:t>
            </a:r>
          </a:p>
          <a:p>
            <a:r>
              <a:rPr sz="1300">
                <a:solidFill>
                  <a:srgbClr val="666666"/>
                </a:solidFill>
                <a:latin typeface="Calibri"/>
              </a:rPr>
              <a:t>Train on the same (pruned) graphs the inference sees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60120"/>
            <a:ext cx="11064240" cy="381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7899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•  Gap: training runs on the full graph; inference prunes nodes/edges first (hard thresholds)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•  Soft mask at the last GN block: w_eff = w · σ((w − cut)/τ), τ annealed 1.0 → 0.1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    –  τ large → smooth mask (easy gradients); τ small → approximates the hard 0.9 threshold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•  cut aligned to inference: 0.5 → 0.7 → 0.85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•  Effect: model learns to push background edges down / signal edges up explicitly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6473952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66666"/>
                </a:solidFill>
                <a:latin typeface="Calibri"/>
              </a:rPr>
              <a:t>Qingxiang Guo · UCAS · DFEI group meeting     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F4E79"/>
                </a:solidFill>
                <a:latin typeface="Calibri"/>
              </a:rPr>
              <a:t>class2 Weighting + In-chain LCA Consistency</a:t>
            </a:r>
          </a:p>
          <a:p>
            <a:r>
              <a:rPr sz="1300">
                <a:solidFill>
                  <a:srgbClr val="666666"/>
                </a:solidFill>
                <a:latin typeface="Calibri"/>
              </a:rPr>
              <a:t>Sister (same-mother) edges are the structural bottleneck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60120"/>
            <a:ext cx="11064240" cy="381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7899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•  class2 (same B) accuracy was the weak point for chain structure; class2 CE weight 3.0 → 2.0 (3.0 hurt class1)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•  In-chain consistency losses (truth-chain edges only):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    –  Hinge: penalize low-confidence chain edges (margin 0.3) → chains become cleaner at inference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    –  CE on chain-edge classes (chain_lca_ce): directly supervise class1/2/3 on the ~0.1% structural edges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•  Net effect: v38 Perfect 26.3% → 29.3%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6473952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66666"/>
                </a:solidFill>
                <a:latin typeface="Calibri"/>
              </a:rPr>
              <a:t>Qingxiang Guo · UCAS · DFEI group meeting     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F4E79"/>
                </a:solidFill>
                <a:latin typeface="Calibri"/>
              </a:rPr>
              <a:t>Source Head: Rumor-Centrality Training</a:t>
            </a:r>
          </a:p>
          <a:p>
            <a:r>
              <a:rPr sz="1300">
                <a:solidFill>
                  <a:srgbClr val="666666"/>
                </a:solidFill>
                <a:latin typeface="Calibri"/>
              </a:rPr>
              <a:t>Teach the backbone the root–leaf structure of a chain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60120"/>
            <a:ext cx="11064240" cy="381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7899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•  Inference finds chain roots with Rumor Centrality (RC); training never saw roots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•  Added a node head predicting "is this the chain root?" (label = RC-argmax node in each truth chain, BCE)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•  Note for the group: RC-argmax is the centroid of the *track graph*, not necessarily the B itself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    –  most visible tracks are final-state particles — parent–child *track* relations are physically rare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    –  this observation motivates our structure-supervision discussion later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6473952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66666"/>
                </a:solidFill>
                <a:latin typeface="Calibri"/>
              </a:rPr>
              <a:t>Qingxiang Guo · UCAS · DFEI group meeting     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F4E79"/>
                </a:solidFill>
                <a:latin typeface="Calibri"/>
              </a:rPr>
              <a:t>New Direction: Output-Side Physics Supervision</a:t>
            </a:r>
          </a:p>
          <a:p>
            <a:r>
              <a:rPr sz="1300">
                <a:solidFill>
                  <a:srgbClr val="666666"/>
                </a:solidFill>
                <a:latin typeface="Calibri"/>
              </a:rPr>
              <a:t>Use physical quantities as auxiliary supervision, keep the end-to-end objective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60120"/>
            <a:ext cx="11064240" cy="381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•  Idea: instead of hand-crafting physics features into the input, supervise the representations with physical targets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•  Mass head (edge-level): regress log10(m_ππ) of each track pair from the edge representation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    –  target computed from track momenta only — no extra labels, data-intrinsic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    –  m_ππ under the pion hypothesis; same-mother pairs sit at resonance masses → structural information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•  Effect (19 epochs, masshead2): AllParticles 52.1 → 55.9, Perfect 29.3 → 32.7, class2 44.7 → 51.1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•  Also implementing: structure head (depth + RC regression) and momentum head (node-level p regression)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6473952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66666"/>
                </a:solidFill>
                <a:latin typeface="Calibri"/>
              </a:rPr>
              <a:t>Qingxiang Guo · UCAS · DFEI group meeting      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F4E79"/>
                </a:solidFill>
                <a:latin typeface="Calibri"/>
              </a:rPr>
              <a:t>Evidence: PhyIP-Style Linear Probe</a:t>
            </a:r>
          </a:p>
          <a:p>
            <a:r>
              <a:rPr sz="1300">
                <a:solidFill>
                  <a:srgbClr val="666666"/>
                </a:solidFill>
                <a:latin typeface="Calibri"/>
              </a:rPr>
              <a:t>Does supervision make the representation physically readable?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60120"/>
            <a:ext cx="11064240" cy="381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371600"/>
          <a:ext cx="1078992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96640"/>
                <a:gridCol w="3596640"/>
                <a:gridCol w="3596640"/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FFFFFF"/>
                          </a:solidFill>
                          <a:latin typeface="Calibri"/>
                        </a:rPr>
                        <a:t>Probe (frozen backbone, Ridge regression)</a:t>
                      </a:r>
                    </a:p>
                  </a:txBody>
                  <a:tcPr marL="54864" marR="54864" marT="18288" marB="18288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FFFFFF"/>
                          </a:solidFill>
                          <a:latin typeface="Calibri"/>
                        </a:rPr>
                        <a:t>v38</a:t>
                      </a:r>
                    </a:p>
                  </a:txBody>
                  <a:tcPr marL="54864" marR="54864" marT="18288" marB="18288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FFFFFF"/>
                          </a:solidFill>
                          <a:latin typeface="Calibri"/>
                        </a:rPr>
                        <a:t>masshead2</a:t>
                      </a:r>
                    </a:p>
                  </a:txBody>
                  <a:tcPr marL="54864" marR="54864" marT="18288" marB="18288">
                    <a:solidFill>
                      <a:srgbClr val="1F4E7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Edge repr → log10(m_ππ)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R² = 0.003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R² = 0.930</a:t>
                      </a:r>
                    </a:p>
                  </a:txBody>
                  <a:tcPr marL="54864" marR="54864" marT="18288" marB="18288"/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Node repr → p (px/py/pz)</a:t>
                      </a:r>
                    </a:p>
                  </a:txBody>
                  <a:tcPr marL="54864" marR="54864" marT="18288" marB="18288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R² ≈ 0</a:t>
                      </a:r>
                    </a:p>
                  </a:txBody>
                  <a:tcPr marL="54864" marR="54864" marT="18288" marB="18288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R² ≈ 0</a:t>
                      </a:r>
                    </a:p>
                  </a:txBody>
                  <a:tcPr marL="54864" marR="54864" marT="18288" marB="18288">
                    <a:solidFill>
                      <a:srgbClr val="EAF2F8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3383280"/>
            <a:ext cx="107899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•  Mass supervision makes the edge representation linearly readable for the mass — the "physics is in the representation" claim (HEP-JEPA style) is confirmed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•  Nodes are NOT linearly readable for momenta (graph_norm + ReLU scramble them) → momentum head (mom head) added to fix this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6473952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66666"/>
                </a:solidFill>
                <a:latin typeface="Calibri"/>
              </a:rPr>
              <a:t>Qingxiang Guo · UCAS · DFEI group meeting     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F4E79"/>
                </a:solidFill>
                <a:latin typeface="Calibri"/>
              </a:rPr>
              <a:t>The Head Zoo (9 supervision heads)</a:t>
            </a:r>
          </a:p>
          <a:p>
            <a:r>
              <a:rPr sz="1300">
                <a:solidFill>
                  <a:srgbClr val="666666"/>
                </a:solidFill>
                <a:latin typeface="Calibri"/>
              </a:rPr>
              <a:t>All train jointly with the shared backbone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60120"/>
            <a:ext cx="11064240" cy="381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371600"/>
          <a:ext cx="1078992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96640"/>
                <a:gridCol w="3596640"/>
                <a:gridCol w="3596640"/>
              </a:tblGrid>
              <a:tr h="470262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FFFFFF"/>
                          </a:solidFill>
                          <a:latin typeface="Calibri"/>
                        </a:rPr>
                        <a:t>Head</a:t>
                      </a:r>
                    </a:p>
                  </a:txBody>
                  <a:tcPr marL="54864" marR="54864" marT="18288" marB="18288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FFFFFF"/>
                          </a:solidFill>
                          <a:latin typeface="Calibri"/>
                        </a:rPr>
                        <a:t>Target</a:t>
                      </a:r>
                    </a:p>
                  </a:txBody>
                  <a:tcPr marL="54864" marR="54864" marT="18288" marB="18288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 marL="54864" marR="54864" marT="18288" marB="18288">
                    <a:solidFill>
                      <a:srgbClr val="1F4E79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33333"/>
                          </a:solidFill>
                          <a:latin typeface="Calibri"/>
                        </a:rPr>
                        <a:t>LCA / node / edge / PV (core 4)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33333"/>
                          </a:solidFill>
                          <a:latin typeface="Calibri"/>
                        </a:rPr>
                        <a:t>LCAG class, signal node/edge, PV assoc.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33333"/>
                          </a:solidFill>
                          <a:latin typeface="Calibri"/>
                        </a:rPr>
                        <a:t>baseline</a:t>
                      </a:r>
                    </a:p>
                  </a:txBody>
                  <a:tcPr marL="54864" marR="54864" marT="18288" marB="18288"/>
                </a:tc>
              </a:tr>
              <a:tr h="470262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33333"/>
                          </a:solidFill>
                          <a:latin typeface="Calibri"/>
                        </a:rPr>
                        <a:t>chain_scorer (5)</a:t>
                      </a:r>
                    </a:p>
                  </a:txBody>
                  <a:tcPr marL="54864" marR="54864" marT="18288" marB="18288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33333"/>
                          </a:solidFill>
                          <a:latin typeface="Calibri"/>
                        </a:rPr>
                        <a:t>candidate-chain likelihood</a:t>
                      </a:r>
                    </a:p>
                  </a:txBody>
                  <a:tcPr marL="54864" marR="54864" marT="18288" marB="18288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33333"/>
                          </a:solidFill>
                          <a:latin typeface="Calibri"/>
                        </a:rPr>
                        <a:t>implemented, not yet trained</a:t>
                      </a:r>
                    </a:p>
                  </a:txBody>
                  <a:tcPr marL="54864" marR="54864" marT="18288" marB="18288">
                    <a:solidFill>
                      <a:srgbClr val="EAF2F8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33333"/>
                          </a:solidFill>
                          <a:latin typeface="Calibri"/>
                        </a:rPr>
                        <a:t>source (6)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33333"/>
                          </a:solidFill>
                          <a:latin typeface="Calibri"/>
                        </a:rPr>
                        <a:t>chain-root binary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33333"/>
                          </a:solidFill>
                          <a:latin typeface="Calibri"/>
                        </a:rPr>
                        <a:t>trained (v36+)</a:t>
                      </a:r>
                    </a:p>
                  </a:txBody>
                  <a:tcPr marL="54864" marR="54864" marT="18288" marB="18288"/>
                </a:tc>
              </a:tr>
              <a:tr h="470262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33333"/>
                          </a:solidFill>
                          <a:latin typeface="Calibri"/>
                        </a:rPr>
                        <a:t>mass (7)</a:t>
                      </a:r>
                    </a:p>
                  </a:txBody>
                  <a:tcPr marL="54864" marR="54864" marT="18288" marB="18288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33333"/>
                          </a:solidFill>
                          <a:latin typeface="Calibri"/>
                        </a:rPr>
                        <a:t>edge log10(m_ππ)</a:t>
                      </a:r>
                    </a:p>
                  </a:txBody>
                  <a:tcPr marL="54864" marR="54864" marT="18288" marB="18288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33333"/>
                          </a:solidFill>
                          <a:latin typeface="Calibri"/>
                        </a:rPr>
                        <a:t>trained → +3.4pp Perfect</a:t>
                      </a:r>
                    </a:p>
                  </a:txBody>
                  <a:tcPr marL="54864" marR="54864" marT="18288" marB="18288">
                    <a:solidFill>
                      <a:srgbClr val="EAF2F8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33333"/>
                          </a:solidFill>
                          <a:latin typeface="Calibri"/>
                        </a:rPr>
                        <a:t>struct (8)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33333"/>
                          </a:solidFill>
                          <a:latin typeface="Calibri"/>
                        </a:rPr>
                        <a:t>node depth + RC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33333"/>
                          </a:solidFill>
                          <a:latin typeface="Calibri"/>
                        </a:rPr>
                        <a:t>training (in progress)</a:t>
                      </a:r>
                    </a:p>
                  </a:txBody>
                  <a:tcPr marL="54864" marR="54864" marT="18288" marB="18288"/>
                </a:tc>
              </a:tr>
              <a:tr h="470268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33333"/>
                          </a:solidFill>
                          <a:latin typeface="Calibri"/>
                        </a:rPr>
                        <a:t>mom (9)</a:t>
                      </a:r>
                    </a:p>
                  </a:txBody>
                  <a:tcPr marL="54864" marR="54864" marT="18288" marB="18288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33333"/>
                          </a:solidFill>
                          <a:latin typeface="Calibri"/>
                        </a:rPr>
                        <a:t>node normalized p regression</a:t>
                      </a:r>
                    </a:p>
                  </a:txBody>
                  <a:tcPr marL="54864" marR="54864" marT="18288" marB="18288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33333"/>
                          </a:solidFill>
                          <a:latin typeface="Calibri"/>
                        </a:rPr>
                        <a:t>training (in progress)</a:t>
                      </a:r>
                    </a:p>
                  </a:txBody>
                  <a:tcPr marL="54864" marR="54864" marT="18288" marB="18288">
                    <a:solidFill>
                      <a:srgbClr val="EAF2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6473952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66666"/>
                </a:solidFill>
                <a:latin typeface="Calibri"/>
              </a:rPr>
              <a:t>Qingxiang Guo · UCAS · DFEI group meeting      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F4E79"/>
                </a:solidFill>
                <a:latin typeface="Calibri"/>
              </a:rPr>
              <a:t>Results Summary (some still running)</a:t>
            </a:r>
          </a:p>
          <a:p>
            <a:r>
              <a:rPr sz="1300">
                <a:solidFill>
                  <a:srgbClr val="666666"/>
                </a:solidFill>
                <a:latin typeface="Calibri"/>
              </a:rPr>
              <a:t>Same 20 test files, thr 0.9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60120"/>
            <a:ext cx="11064240" cy="381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371600"/>
          <a:ext cx="1078992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97480"/>
                <a:gridCol w="2697480"/>
                <a:gridCol w="2697480"/>
                <a:gridCol w="2697480"/>
              </a:tblGrid>
              <a:tr h="426720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FFFFFF"/>
                          </a:solidFill>
                          <a:latin typeface="Calibri"/>
                        </a:rPr>
                        <a:t>Model</a:t>
                      </a:r>
                    </a:p>
                  </a:txBody>
                  <a:tcPr marL="54864" marR="54864" marT="18288" marB="18288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FFFFFF"/>
                          </a:solidFill>
                          <a:latin typeface="Calibri"/>
                        </a:rPr>
                        <a:t>AllParticles</a:t>
                      </a:r>
                    </a:p>
                  </a:txBody>
                  <a:tcPr marL="54864" marR="54864" marT="18288" marB="18288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FFFFFF"/>
                          </a:solidFill>
                          <a:latin typeface="Calibri"/>
                        </a:rPr>
                        <a:t>Perfect</a:t>
                      </a:r>
                    </a:p>
                  </a:txBody>
                  <a:tcPr marL="54864" marR="54864" marT="18288" marB="18288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FFFFFF"/>
                          </a:solidFill>
                          <a:latin typeface="Calibri"/>
                        </a:rPr>
                        <a:t>class2 acc</a:t>
                      </a:r>
                    </a:p>
                  </a:txBody>
                  <a:tcPr marL="54864" marR="54864" marT="18288" marB="18288">
                    <a:solidFill>
                      <a:srgbClr val="1F4E79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33333"/>
                          </a:solidFill>
                          <a:latin typeface="Calibri"/>
                        </a:rPr>
                        <a:t>v38 (baseline)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33333"/>
                          </a:solidFill>
                          <a:latin typeface="Calibri"/>
                        </a:rPr>
                        <a:t>52.1%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33333"/>
                          </a:solidFill>
                          <a:latin typeface="Calibri"/>
                        </a:rPr>
                        <a:t>29.3%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33333"/>
                          </a:solidFill>
                          <a:latin typeface="Calibri"/>
                        </a:rPr>
                        <a:t>~45%</a:t>
                      </a:r>
                    </a:p>
                  </a:txBody>
                  <a:tcPr marL="54864" marR="54864" marT="18288" marB="18288"/>
                </a:tc>
              </a:tr>
              <a:tr h="42672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33333"/>
                          </a:solidFill>
                          <a:latin typeface="Calibri"/>
                        </a:rPr>
                        <a:t>masshead2 (19ep)</a:t>
                      </a:r>
                    </a:p>
                  </a:txBody>
                  <a:tcPr marL="54864" marR="54864" marT="18288" marB="18288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33333"/>
                          </a:solidFill>
                          <a:latin typeface="Calibri"/>
                        </a:rPr>
                        <a:t>55.9%</a:t>
                      </a:r>
                    </a:p>
                  </a:txBody>
                  <a:tcPr marL="54864" marR="54864" marT="18288" marB="18288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33333"/>
                          </a:solidFill>
                          <a:latin typeface="Calibri"/>
                        </a:rPr>
                        <a:t>32.7%</a:t>
                      </a:r>
                    </a:p>
                  </a:txBody>
                  <a:tcPr marL="54864" marR="54864" marT="18288" marB="18288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33333"/>
                          </a:solidFill>
                          <a:latin typeface="Calibri"/>
                        </a:rPr>
                        <a:t>51.1%</a:t>
                      </a:r>
                    </a:p>
                  </a:txBody>
                  <a:tcPr marL="54864" marR="54864" marT="18288" marB="18288">
                    <a:solidFill>
                      <a:srgbClr val="EAF2F8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33333"/>
                          </a:solidFill>
                          <a:latin typeface="Calibri"/>
                        </a:rPr>
                        <a:t>mass+struct+mom (running)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33333"/>
                          </a:solidFill>
                          <a:latin typeface="Calibri"/>
                        </a:rPr>
                        <a:t>TBD (training in progress)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33333"/>
                          </a:solidFill>
                          <a:latin typeface="Calibri"/>
                        </a:rPr>
                        <a:t>TBD (training in progress)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33333"/>
                          </a:solidFill>
                          <a:latin typeface="Calibri"/>
                        </a:rPr>
                        <a:t>TBD (training in progress)</a:t>
                      </a:r>
                    </a:p>
                  </a:txBody>
                  <a:tcPr marL="54864" marR="54864" marT="18288" marB="18288"/>
                </a:tc>
              </a:tr>
              <a:tr h="42672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33333"/>
                          </a:solidFill>
                          <a:latin typeface="Calibri"/>
                        </a:rPr>
                        <a:t>v38 best-ckpt eval (queued)</a:t>
                      </a:r>
                    </a:p>
                  </a:txBody>
                  <a:tcPr marL="54864" marR="54864" marT="18288" marB="18288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33333"/>
                          </a:solidFill>
                          <a:latin typeface="Calibri"/>
                        </a:rPr>
                        <a:t>TBD (queued)</a:t>
                      </a:r>
                    </a:p>
                  </a:txBody>
                  <a:tcPr marL="54864" marR="54864" marT="18288" marB="18288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33333"/>
                          </a:solidFill>
                          <a:latin typeface="Calibri"/>
                        </a:rPr>
                        <a:t>TBD (queued)</a:t>
                      </a:r>
                    </a:p>
                  </a:txBody>
                  <a:tcPr marL="54864" marR="54864" marT="18288" marB="18288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33333"/>
                          </a:solidFill>
                          <a:latin typeface="Calibri"/>
                        </a:rPr>
                        <a:t>TBD (queued)</a:t>
                      </a:r>
                    </a:p>
                  </a:txBody>
                  <a:tcPr marL="54864" marR="54864" marT="18288" marB="18288">
                    <a:solidFill>
                      <a:srgbClr val="EAF2F8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33333"/>
                          </a:solidFill>
                          <a:latin typeface="Calibri"/>
                        </a:rPr>
                        <a:t>Public-data v38 (running)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33333"/>
                          </a:solidFill>
                          <a:latin typeface="Calibri"/>
                        </a:rPr>
                        <a:t>TBD (training in progress, ~27/100 ep, val_combined 42.3 best so far)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33333"/>
                          </a:solidFill>
                          <a:latin typeface="Calibri"/>
                        </a:rPr>
                        <a:t>TBD (training in progress, ~27/100 ep, val_combined 42.3 best so far)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33333"/>
                          </a:solidFill>
                          <a:latin typeface="Calibri"/>
                        </a:rPr>
                        <a:t>TBD (training in progress, ~27/100 ep, val_combined 42.3 best so far)</a:t>
                      </a:r>
                    </a:p>
                  </a:txBody>
                  <a:tcPr marL="54864" marR="54864" marT="18288" marB="18288"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420624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•  To be filled when trainings finish — this slide is a placeholder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6473952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66666"/>
                </a:solidFill>
                <a:latin typeface="Calibri"/>
              </a:rPr>
              <a:t>Qingxiang Guo · UCAS · DFEI group meeting      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F4E79"/>
                </a:solidFill>
                <a:latin typeface="Calibri"/>
              </a:rPr>
              <a:t>Trigger Perspective: Candidate-Chain Scoring</a:t>
            </a:r>
          </a:p>
          <a:p>
            <a:r>
              <a:rPr sz="1300">
                <a:solidFill>
                  <a:srgbClr val="666666"/>
                </a:solidFill>
                <a:latin typeface="Calibri"/>
              </a:rPr>
              <a:t>Are the outputs usable to assist HLT2-style selection?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60120"/>
            <a:ext cx="11064240" cy="381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•  Question: full-event reconstruction (AllParticles→90%) is the wrong metric for a trigger line — what matters is candidate-chain classification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•  Preliminary AUC (chain criteria from model outputs, 20 events):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    –  truth chains vs model-pruned components (realistic background): AUC ≈ 0.78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    –  with easy random combos: AUC ≈ 0.90; strongest single feature: in-chain non-class0 probability 0.96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•  Not yet trained: chain_scorer (head 5) — trained scorer + event-context features should push this higher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•  Time budget: current model ~12 ms/event on GPU; needs 10-100x compression for HLT2 (distillation, pruning)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6473952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66666"/>
                </a:solidFill>
                <a:latin typeface="Calibri"/>
              </a:rPr>
              <a:t>Qingxiang Guo · UCAS · DFEI group meeting      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F4E79"/>
                </a:solidFill>
                <a:latin typeface="Calibri"/>
              </a:rPr>
              <a:t>Open Questions for the Group</a:t>
            </a:r>
          </a:p>
          <a:p>
            <a:r>
              <a:rPr sz="1300">
                <a:solidFill>
                  <a:srgbClr val="666666"/>
                </a:solidFill>
                <a:latin typeface="Calibri"/>
              </a:rPr>
              <a:t>We would like your input on the application form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60120"/>
            <a:ext cx="11064240" cy="381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7899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333333"/>
                </a:solidFill>
                <a:latin typeface="Calibri"/>
              </a:rPr>
              <a:t>•  Q1 — Application form: should we aim at trigger-line *assistance* (candidate scoring) rather than full-event reconstruction? Which metric would the collaboration trust?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333333"/>
                </a:solidFill>
                <a:latin typeface="Calibri"/>
              </a:rPr>
              <a:t>•  Q2 — Track-level parent–child relations are physically rare (most tracks are final-state). Is "same-source clustering" (class2) the real problem DFEI should solve?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333333"/>
                </a:solidFill>
                <a:latin typeface="Calibri"/>
              </a:rPr>
              <a:t>•  Q3 — Invariant mass is computed analytically in HLT2, not by the network. What is the genuine added value of the GNN — structure/context, not kinematics?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333333"/>
                </a:solidFill>
                <a:latin typeface="Calibri"/>
              </a:rPr>
              <a:t>•  Q4 — Flavor tagging: a transformer-based tagger group reported good tagging power. Could DFEI event representations (same-source clusters) combine with it, e.g. for same-side tagging inputs?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333333"/>
                </a:solidFill>
                <a:latin typeface="Calibri"/>
              </a:rPr>
              <a:t>•  Q5 — Is there a realistic HLT2 (or Upgrade II) time budget for a lightweight GNN per event, or is offline/Turbo the right target?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333333"/>
                </a:solidFill>
                <a:latin typeface="Calibri"/>
              </a:rPr>
              <a:t>•  Q6 — Physics supervision (mass/depth/momentum heads) + linear-probe verification: is this a direction the group wants to pursue, and are there better physical targets?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6473952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66666"/>
                </a:solidFill>
                <a:latin typeface="Calibri"/>
              </a:rPr>
              <a:t>Qingxiang Guo · UCAS · DFEI group meeting      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F4E79"/>
                </a:solidFill>
                <a:latin typeface="Calibri"/>
              </a:rPr>
              <a:t>Some Ideas We Are Considering</a:t>
            </a:r>
          </a:p>
          <a:p>
            <a:r>
              <a:rPr sz="1300">
                <a:solidFill>
                  <a:srgbClr val="666666"/>
                </a:solidFill>
                <a:latin typeface="Calibri"/>
              </a:rPr>
              <a:t>Feedback welcome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60120"/>
            <a:ext cx="11064240" cy="381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•  Train the chain scorer (head 5) and measure candidate-chain AUC properly (full 20-file evaluation)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•  Distill the 4-block GNN to a small model and measure per-event CPU latency → quantify HLT2 feasibility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•  Verify "efficiency independent of luminosity" claim on high-multiplicity (μ~50) MC — relevant for Upgrade II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•  Combine DFEI same-source clustering with a transformer tagger for same-side flavor tagging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•  Release the physics-supervision recipe (mass/struct/mom heads + linear probe) as a reproducible methodology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6473952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66666"/>
                </a:solidFill>
                <a:latin typeface="Calibri"/>
              </a:rPr>
              <a:t>Qingxiang Guo · UCAS · DFEI group meeting      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F4E79"/>
                </a:solidFill>
                <a:latin typeface="Calibri"/>
              </a:rPr>
              <a:t>Backup: Data &amp; Setup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60120"/>
            <a:ext cx="11064240" cy="381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7899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•  Data: LHCb Upgrade-I conditions (Run 3), ~150 tracks/event, MC normalized, 200 train / 20 val / 20 test files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•  Public DFEI dataset (converted_LHCbcollision) used for the independent v38 verification run (in progress)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•  Hardware: single GPU (10-44 GB), batch 8, ~40 min/epoch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•  Code: scalable_mtl_hgnn fork, all changes reproducible from config files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