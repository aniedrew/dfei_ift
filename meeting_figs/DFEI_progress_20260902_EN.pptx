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4E79"/>
                </a:solidFill>
                <a:latin typeface="Calibri"/>
              </a:rPr>
              <a:t>Optimizing DFEI on CERN Monte Carlo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33333"/>
                </a:solidFill>
                <a:latin typeface="Calibri"/>
              </a:rPr>
              <a:t>A progress report on the optimization attempts, organized by theme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  <a:latin typeface="Calibri"/>
              </a:rPr>
              <a:t>Qingxiang Guo · University of Chinese Academy of Sciences · 2026-09-02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Data and Overall Effect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CERN MC: /eos/lhcb/user/y/yukaiz/DFEI_IFT_20260702 · threshold 0.9 · 20 test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All work uses the CERN official Monte Carlo production (DFEI_IFT_20260702)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Since fixing a silent class-weight bug, the line has raised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PerfectReco 23.9% → 32.7%   (+8.8pp)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AllParticles 43.4% → 55.9%   (+12.5pp)</a:t>
            </a:r>
          </a:p>
        </p:txBody>
      </p:sp>
      <p:pic>
        <p:nvPicPr>
          <p:cNvPr id="6" name="Picture 5" descr="progress_line_v31_v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03120"/>
            <a:ext cx="5394960" cy="3273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Outline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Organized by theme, not by chronology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Part 1 — Differentiable Pruning with Annealing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    –  training–inference alignment: soft mask w_eff = w·σ((w−cut)/τ), τ annealed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Part 2 — Rewarding the Chain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    –  why chains die · the rewards (hinge, chain-CE) · evidence it works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Part 3 — Supervising Representations with Physics (source / mass / struct / mom)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Part 4 — Controlled Failures and Their Lessons</a:t>
            </a:r>
          </a:p>
          <a:p>
            <a:pPr>
              <a:spcAft>
                <a:spcPts val="1000"/>
              </a:spcAft>
            </a:pPr>
            <a:r>
              <a:rPr sz="2400">
                <a:solidFill>
                  <a:srgbClr val="333333"/>
                </a:solidFill>
                <a:latin typeface="Calibri"/>
              </a:rPr>
              <a:t>•  Part 5 — Ongoing Attempts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Part 1 — Differentiable Pruning with Annealing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Align training with the pruned graphs seen at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Problem: training sees the full graph; inference prunes with hard thresholds first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Fix: soft mask w_eff = w · σ((w − cut)/τ), temperature τ annealed 1.0 → 0.1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large τ → smooth mask, stable gradients; small τ → approximates the hard threshold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Cut aligned to inference and tightened over versions: 0.5 (v36) → 0.7 (v37) → 0.85 (v38) → 0.9 (inference)</a:t>
            </a:r>
          </a:p>
        </p:txBody>
      </p:sp>
      <p:pic>
        <p:nvPicPr>
          <p:cNvPr id="6" name="Picture 5" descr="pruning_sigmoid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611880"/>
            <a:ext cx="5760720" cy="220668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0" y="3657600"/>
            <a:ext cx="1371600" cy="777240"/>
          </a:xfrm>
          <a:prstGeom prst="roundRect">
            <a:avLst/>
          </a:prstGeom>
          <a:solidFill>
            <a:srgbClr val="EAF2F8"/>
          </a:solidFill>
          <a:ln w="203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GNN block</a:t>
            </a:r>
          </a:p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(node/edge</a:t>
            </a:r>
          </a:p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reprs)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10144" y="3858768"/>
            <a:ext cx="292608" cy="36576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39327" y="3657600"/>
            <a:ext cx="1371600" cy="777240"/>
          </a:xfrm>
          <a:prstGeom prst="roundRect">
            <a:avLst/>
          </a:prstGeom>
          <a:solidFill>
            <a:srgbClr val="EAF2F8"/>
          </a:solidFill>
          <a:ln w="203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Weight MLP</a:t>
            </a:r>
          </a:p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(sigmoid head)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765792" y="3858768"/>
            <a:ext cx="292608" cy="36576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104120" y="3657600"/>
            <a:ext cx="914400" cy="777240"/>
          </a:xfrm>
          <a:prstGeom prst="roundRect">
            <a:avLst/>
          </a:prstGeom>
          <a:solidFill>
            <a:srgbClr val="EAF2F8"/>
          </a:solidFill>
          <a:ln w="203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1000" b="1">
                <a:solidFill>
                  <a:srgbClr val="333333"/>
                </a:solidFill>
                <a:latin typeface="Calibri"/>
              </a:rPr>
              <a:t>w ∈ [0,1]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0442448" y="4462272"/>
            <a:ext cx="274320" cy="384048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98280" y="4864608"/>
            <a:ext cx="2834640" cy="960120"/>
          </a:xfrm>
          <a:prstGeom prst="roundRect">
            <a:avLst/>
          </a:prstGeom>
          <a:solidFill>
            <a:srgbClr val="FDEBD0"/>
          </a:solidFill>
          <a:ln w="2032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1">
                <a:solidFill>
                  <a:srgbClr val="333333"/>
                </a:solidFill>
                <a:latin typeface="Calibri"/>
              </a:rPr>
              <a:t>Soft mask</a:t>
            </a:r>
          </a:p>
          <a:p>
            <a:pPr algn="ctr"/>
            <a:r>
              <a:rPr sz="900" b="1">
                <a:solidFill>
                  <a:srgbClr val="333333"/>
                </a:solidFill>
                <a:latin typeface="Calibri"/>
              </a:rPr>
              <a:t>w_eff = w·σ((w−cut)/τ)</a:t>
            </a:r>
          </a:p>
          <a:p>
            <a:pPr algn="ctr"/>
            <a:r>
              <a:rPr sz="900" b="1">
                <a:solidFill>
                  <a:srgbClr val="333333"/>
                </a:solidFill>
                <a:latin typeface="Calibri"/>
              </a:rPr>
              <a:t>cut fixed per run (0.85)</a:t>
            </a:r>
          </a:p>
          <a:p>
            <a:pPr algn="ctr"/>
            <a:r>
              <a:rPr sz="900" b="1">
                <a:solidFill>
                  <a:srgbClr val="333333"/>
                </a:solidFill>
                <a:latin typeface="Calibri"/>
              </a:rPr>
              <a:t>τ annealed: 1.0 → 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956048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0">
                <a:solidFill>
                  <a:srgbClr val="C0392B"/>
                </a:solidFill>
                <a:latin typeface="Calibri"/>
              </a:rPr>
              <a:t>within a run:
cut fixed, τ anneals
→ same cut, sharper enforcement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052560" y="5230368"/>
            <a:ext cx="457200" cy="228600"/>
          </a:xfrm>
          <a:prstGeom prst="rightArrow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 Arrow 15"/>
          <p:cNvSpPr/>
          <p:nvPr/>
        </p:nvSpPr>
        <p:spPr>
          <a:xfrm>
            <a:off x="8595360" y="5394960"/>
            <a:ext cx="502920" cy="228600"/>
          </a:xfrm>
          <a:prstGeom prst="leftArrow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5486400"/>
            <a:ext cx="2194560" cy="731520"/>
          </a:xfrm>
          <a:prstGeom prst="roundRect">
            <a:avLst/>
          </a:prstGeom>
          <a:solidFill>
            <a:srgbClr val="EAF2F8"/>
          </a:solidFill>
          <a:ln w="20320">
            <a:solidFill>
              <a:srgbClr val="2CA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weighted message passing</a:t>
            </a:r>
          </a:p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(back into the GN blocks)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0607040" y="5852160"/>
            <a:ext cx="274320" cy="365760"/>
          </a:xfrm>
          <a:prstGeom prst="down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6172200"/>
            <a:ext cx="2468880" cy="365760"/>
          </a:xfrm>
          <a:prstGeom prst="roundRect">
            <a:avLst/>
          </a:prstGeom>
          <a:solidFill>
            <a:srgbClr val="EAF2F8"/>
          </a:solidFill>
          <a:ln w="203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00" b="0">
                <a:solidFill>
                  <a:srgbClr val="333333"/>
                </a:solidFill>
                <a:latin typeface="Calibri"/>
              </a:rPr>
              <a:t>pruning loss vs truth (BCE)</a:t>
            </a:r>
          </a:p>
          <a:p>
            <a:pPr algn="ctr"/>
            <a:r>
              <a:rPr sz="800" b="0">
                <a:solidFill>
                  <a:srgbClr val="333333"/>
                </a:solidFill>
                <a:latin typeface="Calibri"/>
              </a:rPr>
              <a:t>(mask makes it differentiable)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63093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666666"/>
                </a:solidFill>
                <a:latin typeface="Calibri"/>
              </a:rPr>
              <a:t>inference (no mask): keep if w ≥ 0.9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Part 2 — Why Chains Die (1/2): The Class Imbalance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Structural edges are ~0.1% and the hardest to classify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class 0 (background) is 99.9% of edges; each structural class is ~0.04%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The GNN is weakest exactly on the rarest classes — especially class 2 (sister)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Per-class accuracy: worst exactly on the rare structural classes</a:t>
            </a:r>
          </a:p>
        </p:txBody>
      </p:sp>
      <p:pic>
        <p:nvPicPr>
          <p:cNvPr id="6" name="Picture 5" descr="chain_lca_imbalance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2060254"/>
          </a:xfrm>
          <a:prstGeom prst="rect">
            <a:avLst/>
          </a:prstGeom>
        </p:spPr>
      </p:pic>
      <p:pic>
        <p:nvPicPr>
          <p:cNvPr id="7" name="Picture 6" descr="chain_lca_imbalance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40480"/>
            <a:ext cx="5394960" cy="20615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without extra supervision, the classifier barely learns classes 1/2/3 — the rewards exist to fix this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Part 2 — Why Chains Die (2/2): One Misclassified Edge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Chain survival needs every structural edge correct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At inference, an edge the classifier calls class 0 is pruned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If ANY structural edge of a chain is misclassified, the whole chain dies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The rewards (next slides) supervise truth-chain edge classes directly → chains survive</a:t>
            </a:r>
          </a:p>
        </p:txBody>
      </p:sp>
      <p:pic>
        <p:nvPicPr>
          <p:cNvPr id="6" name="Picture 5" descr="chain_lca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2253674"/>
          </a:xfrm>
          <a:prstGeom prst="rect">
            <a:avLst/>
          </a:prstGeom>
        </p:spPr>
      </p:pic>
      <p:pic>
        <p:nvPicPr>
          <p:cNvPr id="7" name="Picture 6" descr="chain_lca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94760"/>
            <a:ext cx="5394960" cy="2253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chain survival depends on every structural edge being classified correctly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Part 2 — The Root Cause: Class-0 Dilution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Why the standard classifier fails on chain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class 0 (background) is 99.9% of edges; structural classes 1/2/3 together are ~0.1%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The main LCAG loss is a global cross-entropy over every edge → its gradient is ~99.9% "predict background"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Consequence: rare structural edges are undertrained → misclassified → chains break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The fix: reward the chain — class-2 weighting (3.0 → 2.0), then hinge (v37), then chain-CE (v38)</a:t>
            </a:r>
          </a:p>
        </p:txBody>
      </p:sp>
      <p:pic>
        <p:nvPicPr>
          <p:cNvPr id="6" name="Picture 5" descr="chain_lca_di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77440"/>
            <a:ext cx="5394960" cy="23508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with ~1000 background edges per structural edge, the global CE alone cannot teach the model classes 1/2/3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Reward 1 (v37): Hinge — Confidence Bonus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A training-only reward that pays out when chain edges are confidently classified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It is a loss term that behaves like a reward: be confident on a chain edge → pay nothing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Confidence comes from the LCAG head: per-edge 4-class softmax (p0…p3), confidence = max(pk)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Penalty = max(0, margin − confidence), margin 0.3 → zero once confidence ≥ 0.3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Paid ONLY on truth-chain edges — the true chains are known from MC truth during training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Role: chain edges give the global CE almost no gradient → hinge keeps them confident; CE (next) fixes "which class"</a:t>
            </a:r>
          </a:p>
        </p:txBody>
      </p:sp>
      <p:pic>
        <p:nvPicPr>
          <p:cNvPr id="6" name="Picture 5" descr="chain_lca_hinge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2253674"/>
          </a:xfrm>
          <a:prstGeom prst="rect">
            <a:avLst/>
          </a:prstGeom>
        </p:spPr>
      </p:pic>
      <p:pic>
        <p:nvPicPr>
          <p:cNvPr id="7" name="Picture 6" descr="chain_lca_hinge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94760"/>
            <a:ext cx="5394960" cy="22550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hinge is a training-only confidence bonus on chain edges — confidence = max(pk), not the pruning weight 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Reward 2 (v38): Chain-CE — Correctness Bonus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A training-only reward for being the RIGHT class, on chain edges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CE = −log(p_true): p_true is the probability the model assigns to the edge’s TRUE class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Right and confident (p_true → 1) → penalty ≈ 0; unsure or wrong → penalty large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Chain-CE (v38): added ON TOP of the hinge, paid on truth-chain edges (classes 1/2/3) → direct, undiluted gradient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v37 → v38 (weight 2.0 + chain-CE + cut 0.85): PerfectReco 27.3% → 29.3%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Net effect of Part 2 (v31 → v38): 23.9% → 29.3%</a:t>
            </a:r>
          </a:p>
        </p:txBody>
      </p:sp>
      <p:pic>
        <p:nvPicPr>
          <p:cNvPr id="6" name="Picture 5" descr="chain_lca_c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2255054"/>
          </a:xfrm>
          <a:prstGeom prst="rect">
            <a:avLst/>
          </a:prstGeom>
        </p:spPr>
      </p:pic>
      <p:pic>
        <p:nvPicPr>
          <p:cNvPr id="7" name="Picture 6" descr="chain_lca_ce_w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94760"/>
            <a:ext cx="5394960" cy="2253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09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same function as the global CE — the reward is WHERE it is paid (chain edges only)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Part 2 — The Strategy Works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Rewards raise PerfectReco and per-class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Reward line builds on Part 1 (pruning, v36: 26.3%)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hinge (v37): 26.3% → 27.3%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chain-CE (v38): 27.3% → 29.3%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Per-class accuracy (v31 → v38): class1 67.8 → 76.8; class2 41.3 → 47.9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Same evaluation: CERN MC, thr 0.9, 20 test files</a:t>
            </a:r>
          </a:p>
        </p:txBody>
      </p:sp>
      <p:pic>
        <p:nvPicPr>
          <p:cNvPr id="6" name="Picture 5" descr="rewar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5394960" cy="18089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the rewards directly improve the structural classes the global CE ignores — chains survive more often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Part 3 — Supervising Representations with Physics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One common idea behind several heads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Idea: physical / structural quantities are data-intrinsic; supervise the representation with them, keeping the model end-to-end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The head zoo: one shared backbone, many supervised targets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source head (v36) — Rumor-Centrality root; early instance of the same idea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mass head — edge-level log10(m_ππ)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structure head — node depth + RC value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momentum head — node normalized momentum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Verification: linear probes on the frozen backbone (Ridge regression)</a:t>
            </a:r>
          </a:p>
        </p:txBody>
      </p:sp>
      <p:pic>
        <p:nvPicPr>
          <p:cNvPr id="6" name="Picture 5" descr="head_z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394960" cy="22536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the backbone must represent the physics — the heads only tell it what to keep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The Mass Head: Main Result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Edge-level regression of log10(m_ππ)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Same-mother track pairs sit near resonance masses → the edge representation must encode sister relations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Setup: SmoothL1 on log10(m_MeV), sentinel edges masked, weight 1.0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v38 → masshead2 (20 test files):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PerfectReco 29.3% → 32.7%  (+3.4pp)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AllParticles 52.1% → 55.9%  (+3.8pp)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LCAG class2 44.7% → 51.1%  (+6.4pp)</a:t>
            </a:r>
          </a:p>
        </p:txBody>
      </p:sp>
      <p:pic>
        <p:nvPicPr>
          <p:cNvPr id="6" name="Picture 5" descr="NN_edges_2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94960" cy="3617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52578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0">
                <a:solidFill>
                  <a:srgbClr val="666666"/>
                </a:solidFill>
                <a:latin typeface="Calibri"/>
              </a:rPr>
              <a:t>ROC — LCAG class-2 (sister) edge detection, v47 masshead2, 20 test files. Mass supervision moves sister information into the edge representation.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supervising a physical target improved the hardest structural class — and the whole reconstruction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Structure and Momentum Heads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Node-level supervision of tree position and momentum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  <a:latin typeface="Calibri"/>
                        </a:rPr>
                        <a:t>Head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FFFFFF"/>
                          </a:solidFill>
                          <a:latin typeface="Calibri"/>
                        </a:rPr>
                        <a:t>All / Perfect (5-file eval)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mass only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51.4 / 29.7</a:t>
                      </a:r>
                    </a:p>
                  </a:txBody>
                  <a:tcPr marL="54864" marR="54864" marT="18288" marB="18288"/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+ struct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depth + RC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54.5 / 30.5 (+0.8) — best</a:t>
                      </a:r>
                    </a:p>
                  </a:txBody>
                  <a:tcPr marL="54864" marR="54864" marT="18288" marB="18288">
                    <a:solidFill>
                      <a:srgbClr val="EAF2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+ mom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normalized p</a:t>
                      </a:r>
                    </a:p>
                  </a:txBody>
                  <a:tcPr marL="54864" marR="54864" marT="18288" marB="18288"/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333333"/>
                          </a:solidFill>
                          <a:latin typeface="Calibri"/>
                        </a:rPr>
                        <a:t>53.8 / 30.5 (+0.8)</a:t>
                      </a:r>
                    </a:p>
                  </a:txBody>
                  <a:tcPr marL="54864" marR="54864" marT="18288" marB="18288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383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Struct: depth (BFS to chain centroid) + RC value — where the node sits in the tree (see right); class3 60.8→63.2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Mom: motivated by a probe — node representations were linearly unreadable for momentum (R² ≈ 0)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Lesson: probe first, find the missing quantity, then supervise it</a:t>
            </a:r>
          </a:p>
        </p:txBody>
      </p:sp>
      <p:pic>
        <p:nvPicPr>
          <p:cNvPr id="7" name="Picture 6" descr="struct_mom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5394960" cy="22536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depth/RC label the node’s role in the tree — the struct head forces the node representation to encode 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Verification: Linear Probes on the Frozen Backbone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Ridge regression; R² of the physical quantity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Probe: fit a linear regressor on the frozen backbone — can the quantity be read off?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Edge repr → log10(m_ππ): R² 0.003 → 0.930 (masshead2)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Node repr → p (px/py/pz): R² ≈ 0 both before and after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Mass supervision moves mass information into the edge representation — confirmed end-to-end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Nodes remain unreadable for momentum → addressed by the momentum head (to be re-probed)</a:t>
            </a:r>
          </a:p>
        </p:txBody>
      </p:sp>
      <p:pic>
        <p:nvPicPr>
          <p:cNvPr id="6" name="Picture 5" descr="prob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5394960" cy="22517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the probe is the check that supervision actually wrote the physics into the representation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Part 4 — Controlled Failures and Their Lessons</a:t>
            </a:r>
          </a:p>
          <a:p>
            <a:r>
              <a:rPr sz="1700">
                <a:solidFill>
                  <a:srgbClr val="666666"/>
                </a:solidFill>
                <a:latin typeface="Calibri"/>
              </a:rPr>
              <a:t>Two failed lines, two lessons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PV subgraph training (v39-42): training on per-PV subgraphs while inference runs on the full graph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full-graph ability degraded: class1 76.8% → 56.4%; line closed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Combined mass + struct + mom (v48): aux losses (0.877) exceed the main task (0.559)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reconstruction dropped 5pp although LCAG did not — backbone pulled toward auxiliary tasks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resolution: lower aux weights — mom 0.2, struct 0.3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Lessons: train/infer graph mismatch is fatal; gradient balance must be explicit</a:t>
            </a:r>
          </a:p>
        </p:txBody>
      </p:sp>
      <p:pic>
        <p:nvPicPr>
          <p:cNvPr id="6" name="Picture 5" descr="v48_fail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5394960" cy="18079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263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666666"/>
                </a:solidFill>
                <a:latin typeface="Calibri"/>
              </a:rPr>
              <a:t>Implication: the v48 failure shows why the head zoo needs explicit gradient balance — and why we ablate before stacking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Part 5 — Ongoing Attempts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Wider latent space (v53): tracks nodes 32-dim, tt edges 24-dim — 16-dim sits at the physical-DOF lower bound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from-scratch training interrupted at ep74/150, not converged; resume planned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Public-data verification (v45/v49): no PID, class2/3 counts differ 4-14×; resume best val 33.4 @ep73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Learned deterministic annealing: inference-side PV clustering with learned affinity (no subgraph training); core module CPU-verified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Chain scoring for trigger assistance: criteria AUC 0.90 / 0.78 (realistic); training ready, needs GPU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510528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6666"/>
                </a:solidFill>
                <a:latin typeface="Calibri"/>
              </a:rPr>
              <a:t>Qingxiang Guo · UCAS · DFEI group meeting    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Calibri"/>
              </a:rPr>
              <a:t>Next Steps and 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Resume the wider-latent training to 150 ep; layer struct + mom at reduced weights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Run queued evaluations; train the chain scorer; plug GNN affinity into learned DA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333333"/>
                </a:solidFill>
                <a:latin typeface="Calibri"/>
              </a:rPr>
              <a:t>•  Open questions: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trigger assistance vs full-event reconstruction — which metric would the collaboration trust?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is same-source (class2) clustering the real problem DFEI should solve?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333333"/>
                </a:solidFill>
                <a:latin typeface="Calibri"/>
              </a:rPr>
              <a:t>    –  HLT2 / Upgrade-II time budget for a lightweight GNN per event?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